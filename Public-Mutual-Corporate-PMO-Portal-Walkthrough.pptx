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37856b77524ca1" /><Relationship Type="http://schemas.openxmlformats.org/officeDocument/2006/relationships/extended-properties" Target="/docProps/app.xml" Id="Rb8aa2f850e8945ff" /><Relationship Type="http://schemas.openxmlformats.org/officeDocument/2006/relationships/officeDocument" Target="/ppt/presentation.xml" Id="R062417c439a749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b7d3349ea54579"/>
  </p:sldMasterIdLst>
  <p:notesMasterIdLst>
    <p:notesMasterId xmlns:r="http://schemas.openxmlformats.org/officeDocument/2006/relationships" r:id="R339bf86f52d74677"/>
  </p:notesMasterIdLst>
  <p:sldIdLst>
    <p:sldId xmlns:r="http://schemas.openxmlformats.org/officeDocument/2006/relationships" id="256" r:id="Rfb0b1e02d37a4a16"/>
    <p:sldId xmlns:r="http://schemas.openxmlformats.org/officeDocument/2006/relationships" id="257" r:id="R495fe13154e24dfb"/>
    <p:sldId xmlns:r="http://schemas.openxmlformats.org/officeDocument/2006/relationships" id="258" r:id="R79fedcc0ed744ecb"/>
    <p:sldId xmlns:r="http://schemas.openxmlformats.org/officeDocument/2006/relationships" id="259" r:id="R860d020b89ff4d7b"/>
    <p:sldId xmlns:r="http://schemas.openxmlformats.org/officeDocument/2006/relationships" id="260" r:id="R32ca220e0ee4407e"/>
    <p:sldId xmlns:r="http://schemas.openxmlformats.org/officeDocument/2006/relationships" id="261" r:id="Ra579b7fe7f9943b3"/>
    <p:sldId xmlns:r="http://schemas.openxmlformats.org/officeDocument/2006/relationships" id="262" r:id="R5734a35f265f4c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74bf5b3dd2426d" /><Relationship Type="http://schemas.openxmlformats.org/officeDocument/2006/relationships/slideMaster" Target="/ppt/slideMasters/slideMaster1.xml" Id="R2db7d3349ea54579" /><Relationship Type="http://schemas.openxmlformats.org/officeDocument/2006/relationships/notesMaster" Target="/ppt/notesMasters/notesMaster1.xml" Id="R339bf86f52d74677" /><Relationship Type="http://schemas.openxmlformats.org/officeDocument/2006/relationships/presProps" Target="/ppt/presProps.xml" Id="R3307650a191e4049" /><Relationship Type="http://schemas.openxmlformats.org/officeDocument/2006/relationships/tableStyles" Target="/ppt/tableStyles.xml" Id="Re344538e70d240c3" /><Relationship Type="http://schemas.openxmlformats.org/officeDocument/2006/relationships/slide" Target="/ppt/slides/slide1.xml" Id="Rfb0b1e02d37a4a16" /><Relationship Type="http://schemas.openxmlformats.org/officeDocument/2006/relationships/slide" Target="/ppt/slides/slide2.xml" Id="R495fe13154e24dfb" /><Relationship Type="http://schemas.openxmlformats.org/officeDocument/2006/relationships/slide" Target="/ppt/slides/slide3.xml" Id="R79fedcc0ed744ecb" /><Relationship Type="http://schemas.openxmlformats.org/officeDocument/2006/relationships/slide" Target="/ppt/slides/slide4.xml" Id="R860d020b89ff4d7b" /><Relationship Type="http://schemas.openxmlformats.org/officeDocument/2006/relationships/slide" Target="/ppt/slides/slide5.xml" Id="R32ca220e0ee4407e" /><Relationship Type="http://schemas.openxmlformats.org/officeDocument/2006/relationships/slide" Target="/ppt/slides/slide6.xml" Id="Ra579b7fe7f9943b3" /><Relationship Type="http://schemas.openxmlformats.org/officeDocument/2006/relationships/slide" Target="/ppt/slides/slide7.xml" Id="R5734a35f265f4c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9a11dacbcb4b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e33711663f4da4" /><Relationship Type="http://schemas.openxmlformats.org/officeDocument/2006/relationships/notesMaster" Target="/ppt/notesMasters/notesMaster1.xml" Id="R119100e75f914d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5bcf42b594f97" /><Relationship Type="http://schemas.openxmlformats.org/officeDocument/2006/relationships/notesMaster" Target="/ppt/notesMasters/notesMaster1.xml" Id="Rf1e48bdf52b943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86129e390340f5" /><Relationship Type="http://schemas.openxmlformats.org/officeDocument/2006/relationships/notesMaster" Target="/ppt/notesMasters/notesMaster1.xml" Id="R9ea8ba5ac49544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fce38f21934d53" /><Relationship Type="http://schemas.openxmlformats.org/officeDocument/2006/relationships/notesMaster" Target="/ppt/notesMasters/notesMaster1.xml" Id="R2704a4a2ed8f46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53615be4494e45" /><Relationship Type="http://schemas.openxmlformats.org/officeDocument/2006/relationships/notesMaster" Target="/ppt/notesMasters/notesMaster1.xml" Id="R10398ba999dd4e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53b9b2904f4aff" /><Relationship Type="http://schemas.openxmlformats.org/officeDocument/2006/relationships/notesMaster" Target="/ppt/notesMasters/notesMaster1.xml" Id="R17979cc9e5f44c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12a248013f4090" /><Relationship Type="http://schemas.openxmlformats.org/officeDocument/2006/relationships/notesMaster" Target="/ppt/notesMasters/notesMaster1.xml" Id="Rd21586d5d88d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59004edd444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8785838554faa" /><Relationship Type="http://schemas.openxmlformats.org/officeDocument/2006/relationships/slideLayout" Target="/ppt/slideLayouts/slideLayout1.xml" Id="R2a577362b92b44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77362b92b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1b55954634ff3" /><Relationship Type="http://schemas.openxmlformats.org/officeDocument/2006/relationships/image" Target="/ppt/media/image.png" Id="R3429c1e3754f4e5a" /><Relationship Type="http://schemas.openxmlformats.org/officeDocument/2006/relationships/image" Target="/ppt/media/image2.png" Id="R3e25d2f660254741" /><Relationship Type="http://schemas.openxmlformats.org/officeDocument/2006/relationships/notesSlide" Target="/ppt/notesSlides/notesSlide1.xml" Id="R65496642a9ac42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d36b7281e4d8e" /><Relationship Type="http://schemas.openxmlformats.org/officeDocument/2006/relationships/notesSlide" Target="/ppt/notesSlides/notesSlide2.xml" Id="R73b3cd68ed9148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9eeaa8f7b4a79" /><Relationship Type="http://schemas.openxmlformats.org/officeDocument/2006/relationships/notesSlide" Target="/ppt/notesSlides/notesSlide3.xml" Id="Rb627c6a9c7734b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3a022ca2f4e61" /><Relationship Type="http://schemas.openxmlformats.org/officeDocument/2006/relationships/notesSlide" Target="/ppt/notesSlides/notesSlide4.xml" Id="Rc481ca1556754d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5c36c037c4b40" /><Relationship Type="http://schemas.openxmlformats.org/officeDocument/2006/relationships/notesSlide" Target="/ppt/notesSlides/notesSlide5.xml" Id="R2019bac03d9c4c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c52f8306f4a49" /><Relationship Type="http://schemas.openxmlformats.org/officeDocument/2006/relationships/image" Target="/ppt/media/image3.png" Id="Raa2bf3d414914e08" /><Relationship Type="http://schemas.openxmlformats.org/officeDocument/2006/relationships/notesSlide" Target="/ppt/notesSlides/notesSlide6.xml" Id="Rd24736f8c66c49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f94e926dc4af3" /><Relationship Type="http://schemas.openxmlformats.org/officeDocument/2006/relationships/notesSlide" Target="/ppt/notesSlides/notesSlide7.xml" Id="R4877b99d537f4b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9c1e3754f4e5a"/>
          <a:stretch xmlns:a="http://schemas.openxmlformats.org/drawingml/2006/main"/>
        </p:blipFill>
        <p:spPr>
          <a:xfrm xmlns:a="http://schemas.openxmlformats.org/drawingml/2006/main">
            <a:off x="685800" y="574187"/>
            <a:ext cx="1314450" cy="2613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5d2f660254741"/>
          <a:stretch xmlns:a="http://schemas.openxmlformats.org/drawingml/2006/main"/>
        </p:blipFill>
        <p:spPr>
          <a:xfrm xmlns:a="http://schemas.openxmlformats.org/drawingml/2006/main">
            <a:off x="2461667" y="514350"/>
            <a:ext cx="696417" cy="400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BD7A2-6925-469F-AD63-A6C60EC6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72A"/>
                </a:solidFill>
              </a:defRPr>
            </a:pPr>
            <a:r>
              <a:rPr sz="4350" b="1">
                <a:solidFill>
                  <a:srgbClr val="15172A"/>
                </a:solidFill>
              </a:rPr>
              <a:t>Corporate PMO Portal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5A4E6-28F9-4F3B-B808-E79A16DF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174"/>
                </a:solidFill>
              </a:defRPr>
            </a:pPr>
            <a:r>
              <a:rPr sz="1875" b="0">
                <a:solidFill>
                  <a:srgbClr val="596174"/>
                </a:solidFill>
              </a:rPr>
              <a:t>A guided walkthrough of registration, login and corporate investment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44D8B-38DA-426C-B9CA-EA499CEC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333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E2C81-1906-4972-AFCC-D455F531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72A"/>
                </a:solidFill>
              </a:defRPr>
            </a:pPr>
            <a:r>
              <a:rPr sz="1425" b="0">
                <a:solidFill>
                  <a:srgbClr val="15172A"/>
                </a:solidFill>
              </a:rPr>
              <a:t>Designed for trusted corporate self-service across Unit Trust and Employer Online Portal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4242F-42E4-4785-AFC6-6B15330D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28750"/>
            <a:ext cx="3143250" cy="3333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6247B"/>
          </a:solidFill>
          <a:ln xmlns:a="http://schemas.openxmlformats.org/drawingml/2006/main" w="9525">
            <a:solidFill>
              <a:srgbClr val="2624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BD713-D0A0-4D34-B946-2333D866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33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One corporate portal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for investment visibility,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action and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FFEDC-A39C-4096-A176-818049C6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D7F8"/>
                </a:solidFill>
              </a:defRPr>
            </a:pPr>
            <a:r>
              <a:rPr sz="975" b="1">
                <a:solidFill>
                  <a:srgbClr val="D7D7F8"/>
                </a:solidFill>
              </a:rPr>
              <a:t>REGISTRATION → LOGIN → MANAGE</a:t>
            </a:r>
          </a:p>
        </p:txBody>
      </p:sp>
    </p:spTree>
    <p:extLst>
      <p:ext uri="{BB962C8B-B14F-4D97-AF65-F5344CB8AC3E}">
        <p14:creationId xmlns:p14="http://schemas.microsoft.com/office/powerpoint/2010/main" val="826461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830D9-2DAB-49A0-8329-51F1D0F0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D1C24"/>
                </a:solidFill>
              </a:defRPr>
            </a:pPr>
            <a:r>
              <a:rPr sz="900" b="1">
                <a:solidFill>
                  <a:srgbClr val="ED1C24"/>
                </a:solidFill>
              </a:rPr>
              <a:t>CORPORATE PMO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A573F-4F9F-4D30-918E-9477BD0C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THE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B129A-6D4D-4516-B15A-FAE899FA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6"/>
          </a:solidFill>
          <a:ln xmlns:a="http://schemas.openxmlformats.org/drawingml/2006/main" w="0">
            <a:solidFill>
              <a:srgbClr val="D9D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3271A-D26B-4134-8D5F-27DE506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22A2F-EA87-4A46-99FF-084035B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72A"/>
                </a:solidFill>
              </a:defRPr>
            </a:pPr>
            <a:r>
              <a:rPr sz="2925" b="1">
                <a:solidFill>
                  <a:srgbClr val="15172A"/>
                </a:solidFill>
              </a:rPr>
              <a:t>A controlled path from enrolment to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E89CC-EE23-4BA3-8A9A-13C3A56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4"/>
                </a:solidFill>
              </a:defRPr>
            </a:pPr>
            <a:r>
              <a:rPr sz="1500" b="0">
                <a:solidFill>
                  <a:srgbClr val="596174"/>
                </a:solidFill>
              </a:rPr>
              <a:t>The portal creates a clear hand-off between onboarding, secure access and day-to-day investment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E55DA-11DF-4DAE-8156-F5E4ADEA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181350" cy="21717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5F9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18B4E-A82D-4532-90AA-7E295A21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44827-9EEE-4883-B309-AD2F374A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172A"/>
                </a:solidFill>
              </a:defRPr>
            </a:pPr>
            <a:r>
              <a:rPr sz="2175" b="1">
                <a:solidFill>
                  <a:srgbClr val="15172A"/>
                </a:solidFill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68DDD-0897-4667-BE58-70A3B312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Agree to service terms and identify the corporate user.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07903-F131-40BC-AAAD-035F9EEB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766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1C24"/>
                </a:solidFill>
              </a:defRPr>
            </a:pPr>
            <a:r>
              <a:rPr sz="2250" b="1">
                <a:solidFill>
                  <a:srgbClr val="ED1C2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194C7-5121-4D2B-B61C-5EEE6D93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57500"/>
            <a:ext cx="3181350" cy="21717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7FD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39381-98A3-47FD-8E62-BDB4290B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0515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6C544-B82D-4954-BEFA-05E8F68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172A"/>
                </a:solidFill>
              </a:defRPr>
            </a:pPr>
            <a:r>
              <a:rPr sz="2175" b="1">
                <a:solidFill>
                  <a:srgbClr val="15172A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4C12A-07B9-4BA3-AE9B-FC7962D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7195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Set credentials, confirm role context and validate with PAC.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35095-C5A9-457B-A382-07DC8C3E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766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1C24"/>
                </a:solidFill>
              </a:defRPr>
            </a:pPr>
            <a:r>
              <a:rPr sz="2250" b="1">
                <a:solidFill>
                  <a:srgbClr val="ED1C2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122DA-3D35-4F51-802F-B769FD9C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3181350" cy="21717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F5F9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3B6CE-C4B9-4FE5-8E23-21643F5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1C24"/>
                </a:solidFill>
              </a:defRPr>
            </a:pPr>
            <a:r>
              <a:rPr sz="1350" b="1">
                <a:solidFill>
                  <a:srgbClr val="ED1C24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76111-7B1F-46D1-BB6A-74B71ACB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172A"/>
                </a:solidFill>
              </a:defRPr>
            </a:pPr>
            <a:r>
              <a:rPr sz="2175" b="1">
                <a:solidFill>
                  <a:srgbClr val="15172A"/>
                </a:solidFill>
              </a:rPr>
              <a:t>Manage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14401-F74B-4E6C-A796-D4BDAE10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Review holdings, submit requests and authorise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803993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5B272-A59A-47C1-8D93-4694B59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D1C24"/>
                </a:solidFill>
              </a:defRPr>
            </a:pPr>
            <a:r>
              <a:rPr sz="900" b="1">
                <a:solidFill>
                  <a:srgbClr val="ED1C24"/>
                </a:solidFill>
              </a:rPr>
              <a:t>CORPORATE PMO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D6565-835D-4D8D-97F9-F607CBE1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REGISTRATION · STEP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DB957-8190-4E36-885B-AB16C10D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6"/>
          </a:solidFill>
          <a:ln xmlns:a="http://schemas.openxmlformats.org/drawingml/2006/main" w="0">
            <a:solidFill>
              <a:srgbClr val="D9D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33FEA-0AB9-4B39-BEC3-83E9DBB1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C1512-68EF-4A6E-989A-91F256BD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2A"/>
                </a:solidFill>
              </a:defRPr>
            </a:pPr>
            <a:r>
              <a:rPr sz="2850" b="1">
                <a:solidFill>
                  <a:srgbClr val="15172A"/>
                </a:solidFill>
              </a:rPr>
              <a:t>Registration begins with a clear service commitment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9A234-FBE0-46D2-8307-008F4A8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4"/>
                </a:solidFill>
              </a:defRPr>
            </a:pPr>
            <a:r>
              <a:rPr sz="1500" b="0">
                <a:solidFill>
                  <a:srgbClr val="596174"/>
                </a:solidFill>
              </a:rPr>
              <a:t>The first screen establishes the terms, mandate and authorised-access context before any user details are collected.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131BA-7330-4883-B9BC-C737F52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90625"/>
            <a:ext cx="44767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1BFAA-80BB-4855-8CFC-E002F4CA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2A"/>
                </a:solidFill>
              </a:defRPr>
            </a:pPr>
            <a:r>
              <a:rPr sz="1650" b="1">
                <a:solidFill>
                  <a:srgbClr val="15172A"/>
                </a:solidFill>
              </a:rPr>
              <a:t>Corporate PMO Registration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49C81-6653-43C4-979F-FBA80625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6"/>
          </a:solidFill>
          <a:ln xmlns:a="http://schemas.openxmlformats.org/drawingml/2006/main" w="0">
            <a:solidFill>
              <a:srgbClr val="D9DC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0ADA6-A4DF-4A19-8CAE-743B4C1B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19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5A"/>
                </a:solidFill>
              </a:defRPr>
            </a:pPr>
            <a:r>
              <a:rPr sz="1500" b="1">
                <a:solidFill>
                  <a:srgbClr val="1B8A5A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67CBF-C96E-43F9-83A8-DB2665D0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2A"/>
                </a:solidFill>
              </a:defRPr>
            </a:pPr>
            <a:r>
              <a:rPr sz="1350" b="1">
                <a:solidFill>
                  <a:srgbClr val="15172A"/>
                </a:solidFill>
              </a:rPr>
              <a:t>Terms and Conditions 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EE17F-54BE-4D40-ADF5-EAFCD6FF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76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5A"/>
                </a:solidFill>
              </a:defRPr>
            </a:pPr>
            <a:r>
              <a:rPr sz="1500" b="1">
                <a:solidFill>
                  <a:srgbClr val="1B8A5A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756DB-2675-4F96-ABBA-70331202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384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2A"/>
                </a:solidFill>
              </a:defRPr>
            </a:pPr>
            <a:r>
              <a:rPr sz="1350" b="1">
                <a:solidFill>
                  <a:srgbClr val="15172A"/>
                </a:solidFill>
              </a:rPr>
              <a:t>Corporate mandate acknowledged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109B8-0729-4F6F-BB28-B823BE86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5A"/>
                </a:solidFill>
              </a:defRPr>
            </a:pPr>
            <a:r>
              <a:rPr sz="1500" b="1">
                <a:solidFill>
                  <a:srgbClr val="1B8A5A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EB897-76BC-478D-8F71-17D7706A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2A"/>
                </a:solidFill>
              </a:defRPr>
            </a:pPr>
            <a:r>
              <a:rPr sz="1350" b="1">
                <a:solidFill>
                  <a:srgbClr val="15172A"/>
                </a:solidFill>
              </a:rPr>
              <a:t>Authorised users confirmed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0C662-58AC-4F66-ADAB-075AAA3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1619250" cy="409575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C4EF9-3C2A-4B2D-BB74-4E590A6A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14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96174"/>
                </a:solidFill>
              </a:defRPr>
            </a:pPr>
            <a:r>
              <a:rPr sz="1125" b="1">
                <a:solidFill>
                  <a:srgbClr val="596174"/>
                </a:solidFill>
              </a:rPr>
              <a:t>Disagree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6ED0B-3CB0-4CBC-95AE-9F4859B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38650"/>
            <a:ext cx="1619250" cy="409575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9525">
            <a:solidFill>
              <a:srgbClr val="ED1C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09898-2A38-4CF3-B818-82B5856A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14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Agree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E3CC5-1190-48F7-8976-A94506D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E9E0D-A94B-483B-916A-BDC12830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2A"/>
                </a:solidFill>
              </a:defRPr>
            </a:pPr>
            <a:r>
              <a:rPr sz="1650" b="1">
                <a:solidFill>
                  <a:srgbClr val="15172A"/>
                </a:solidFill>
              </a:rPr>
              <a:t>Set the right expectations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4732B-248E-4BD2-87C9-885D8F15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The opening makes the service boundaries and account authority explicit.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60C6A-FAD5-4EE9-87C0-AAC55372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F7167-32F9-4171-A69C-DEBA239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2A"/>
                </a:solidFill>
              </a:defRPr>
            </a:pPr>
            <a:r>
              <a:rPr sz="1650" b="1">
                <a:solidFill>
                  <a:srgbClr val="15172A"/>
                </a:solidFill>
              </a:rPr>
              <a:t>Move forward only when 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D03D9-5FBC-4FE9-A20E-E628ECF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An affirmative “Agree” action advances the user into the registration form.</a:t>
            </a:r>
          </a:p>
        </p:txBody>
      </p:sp>
    </p:spTree>
    <p:extLst>
      <p:ext uri="{BB962C8B-B14F-4D97-AF65-F5344CB8AC3E}">
        <p14:creationId xmlns:p14="http://schemas.microsoft.com/office/powerpoint/2010/main" val="635995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69D94-5D36-4601-AA91-64D5822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D1C24"/>
                </a:solidFill>
              </a:defRPr>
            </a:pPr>
            <a:r>
              <a:rPr sz="900" b="1">
                <a:solidFill>
                  <a:srgbClr val="ED1C24"/>
                </a:solidFill>
              </a:rPr>
              <a:t>CORPORATE PMO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BBED5-9464-46B5-B350-BFE02FF1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REGISTRATION · STEP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F7874-0518-46D1-8994-CEF90B76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6"/>
          </a:solidFill>
          <a:ln xmlns:a="http://schemas.openxmlformats.org/drawingml/2006/main" w="0">
            <a:solidFill>
              <a:srgbClr val="D9D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88563-E5BB-402B-B502-F9154674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26C47-9804-45D5-8948-63EA4A66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2A"/>
                </a:solidFill>
              </a:defRPr>
            </a:pPr>
            <a:r>
              <a:rPr sz="2850" b="1">
                <a:solidFill>
                  <a:srgbClr val="15172A"/>
                </a:solidFill>
              </a:rPr>
              <a:t>Company identity and login credentials are collected together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C31DE-9E6F-4D6C-9F49-75A2D5D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4"/>
                </a:solidFill>
              </a:defRPr>
            </a:pPr>
            <a:r>
              <a:rPr sz="1500" b="0">
                <a:solidFill>
                  <a:srgbClr val="596174"/>
                </a:solidFill>
              </a:rPr>
              <a:t>The portal pairs corporate registration details with secure account setup, keeping the onboarding journey in one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0F301-47AE-4147-9531-366C104F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97205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5F9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3CE83-CEA2-4A47-B718-62F5E850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2A"/>
                </a:solidFill>
              </a:defRPr>
            </a:pPr>
            <a:r>
              <a:rPr sz="1500" b="1">
                <a:solidFill>
                  <a:srgbClr val="15172A"/>
                </a:solidFill>
              </a:rPr>
              <a:t>Company Registration 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25209-603F-4AC1-A76D-5B68A9B3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Corporate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FCEEF-90A6-430A-8799-51A59FD9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289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D1C24"/>
                </a:solidFill>
              </a:defRPr>
            </a:pPr>
            <a:r>
              <a:rPr sz="1050" b="1">
                <a:solidFill>
                  <a:srgbClr val="ED1C24"/>
                </a:solidFill>
              </a:rPr>
              <a:t>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64234-C9DA-4D4D-B902-BBE78CB4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497205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5F9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1E420-5C98-4D2E-9D79-0C177C1D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2A"/>
                </a:solidFill>
              </a:defRPr>
            </a:pPr>
            <a:r>
              <a:rPr sz="1500" b="1">
                <a:solidFill>
                  <a:srgbClr val="15172A"/>
                </a:solidFill>
              </a:rPr>
              <a:t>Full Name &amp; IC No.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DC454-957B-4389-A5F6-CD288DC0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813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Authorised individual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EC747-17CE-4477-8862-784D479F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289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D1C24"/>
                </a:solidFill>
              </a:defRPr>
            </a:pPr>
            <a:r>
              <a:rPr sz="1050" b="1">
                <a:solidFill>
                  <a:srgbClr val="ED1C24"/>
                </a:solidFill>
              </a:rPr>
              <a:t>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57F3A-36E5-4EA2-BEE8-570A439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97205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5F9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0A978-2487-41A9-8E3C-DB0AC3B3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2A"/>
                </a:solidFill>
              </a:defRPr>
            </a:pPr>
            <a:r>
              <a:rPr sz="1500" b="1">
                <a:solidFill>
                  <a:srgbClr val="15172A"/>
                </a:solidFill>
              </a:rPr>
              <a:t>Mobile &amp; security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92C7F-9578-4431-B084-6241F997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Contact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D1D98-EC7B-47EC-9C90-30507AE5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38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D1C24"/>
                </a:solidFill>
              </a:defRPr>
            </a:pPr>
            <a:r>
              <a:rPr sz="1050" b="1">
                <a:solidFill>
                  <a:srgbClr val="ED1C24"/>
                </a:solidFill>
              </a:rPr>
              <a:t>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F3112-FF72-4759-B5CB-BAC225B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497205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5F9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33415-027F-466B-B30B-DA1D5A12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386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2A"/>
                </a:solidFill>
              </a:defRPr>
            </a:pPr>
            <a:r>
              <a:rPr sz="1500" b="1">
                <a:solidFill>
                  <a:srgbClr val="15172A"/>
                </a:solidFill>
              </a:rPr>
              <a:t>User ID &amp; password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ED100-7F93-4742-AA94-6DD8026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910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Login credentials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1FAE9-F2B1-45E0-AB39-E939E7ED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38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D1C24"/>
                </a:solidFill>
              </a:defRPr>
            </a:pPr>
            <a:r>
              <a:rPr sz="1050" b="1">
                <a:solidFill>
                  <a:srgbClr val="ED1C24"/>
                </a:solidFill>
              </a:rPr>
              <a:t>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B3BCA-DEE1-410A-BA94-2FC488D6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72A"/>
                </a:solidFill>
              </a:defRPr>
            </a:pPr>
            <a:r>
              <a:rPr sz="1350" b="0">
                <a:solidFill>
                  <a:srgbClr val="15172A"/>
                </a:solidFill>
              </a:rPr>
              <a:t>Built-in password rules help the user create a credential that meets the portal’s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342664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92CC4-2F41-4783-B865-7943D6AE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D1C24"/>
                </a:solidFill>
              </a:defRPr>
            </a:pPr>
            <a:r>
              <a:rPr sz="900" b="1">
                <a:solidFill>
                  <a:srgbClr val="ED1C24"/>
                </a:solidFill>
              </a:rPr>
              <a:t>CORPORATE PMO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4E34-5E15-4A60-9A76-B31B117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REGISTRATION · STEP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A866A-0480-4AEC-A0AD-40BE5D2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6"/>
          </a:solidFill>
          <a:ln xmlns:a="http://schemas.openxmlformats.org/drawingml/2006/main" w="0">
            <a:solidFill>
              <a:srgbClr val="D9D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33AE4-856D-42EE-AA23-770F04DA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F6208-9B3B-47CE-B107-E3D6FB2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2A"/>
                </a:solidFill>
              </a:defRPr>
            </a:pPr>
            <a:r>
              <a:rPr sz="2850" b="1">
                <a:solidFill>
                  <a:srgbClr val="15172A"/>
                </a:solidFill>
              </a:rPr>
              <a:t>Security verification confirms access and role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EC7EB-1CD0-468F-8904-59175701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4"/>
                </a:solidFill>
              </a:defRPr>
            </a:pPr>
            <a:r>
              <a:rPr sz="1500" b="0">
                <a:solidFill>
                  <a:srgbClr val="596174"/>
                </a:solidFill>
              </a:rPr>
              <a:t>Before access is granted, the applicant confirms the company, the Unit Trust and EOP role assignments, and a PAC verification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EC48F-B0ED-4D67-ADA7-91798CD2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04825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7FD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E1D3C-68A4-450B-94D4-9010948C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2A"/>
                </a:solidFill>
              </a:defRPr>
            </a:pPr>
            <a:r>
              <a:rPr sz="1650" b="1">
                <a:solidFill>
                  <a:srgbClr val="15172A"/>
                </a:solidFill>
              </a:rPr>
              <a:t>Role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1EDA3-6059-49DC-BC8F-3DF29A7D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Unit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94507-CF39-4076-B49B-B8462BA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24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2A"/>
                </a:solidFill>
              </a:defRPr>
            </a:pPr>
            <a:r>
              <a:rPr sz="1350" b="1">
                <a:solidFill>
                  <a:srgbClr val="15172A"/>
                </a:solidFill>
              </a:rPr>
              <a:t>User &amp; Authoriser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5DE55-CFC7-481D-8D92-C9F2C6B4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Employer Online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0ED4-AD4E-41F0-BBB8-27073C82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62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2A"/>
                </a:solidFill>
              </a:defRPr>
            </a:pPr>
            <a:r>
              <a:rPr sz="1350" b="1">
                <a:solidFill>
                  <a:srgbClr val="15172A"/>
                </a:solidFill>
              </a:rPr>
              <a:t>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6149B-1599-4C07-81EA-403189DF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174"/>
                </a:solidFill>
              </a:defRPr>
            </a:pPr>
            <a:r>
              <a:rPr sz="1125" b="1">
                <a:solidFill>
                  <a:srgbClr val="596174"/>
                </a:solidFill>
              </a:rPr>
              <a:t>Ativa Studio Solution Sdn Bhd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9BAD7-8DB0-4F3D-B39C-CF724A1C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14625"/>
            <a:ext cx="462915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4F5F9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1238F-224F-4C02-8EB6-8A180D8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2A"/>
                </a:solidFill>
              </a:defRPr>
            </a:pPr>
            <a:r>
              <a:rPr sz="1650" b="1">
                <a:solidFill>
                  <a:srgbClr val="15172A"/>
                </a:solidFill>
              </a:rPr>
              <a:t>PAC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7101D-73C5-4002-857D-931B5409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SMS Personal Authentication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8F5CB-F43F-41B8-AFF5-C3B5A72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219075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449A5-A606-4540-A93D-C1546AB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386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174"/>
                </a:solidFill>
              </a:defRPr>
            </a:pPr>
            <a:r>
              <a:rPr sz="1125" b="0">
                <a:solidFill>
                  <a:srgbClr val="596174"/>
                </a:solidFill>
              </a:rPr>
              <a:t>Enter 8-digit PAC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B7D6C-D7DE-4036-AB9F-9519A4EB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33825"/>
            <a:ext cx="1524000" cy="428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9525">
            <a:solidFill>
              <a:srgbClr val="ED1C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FA76D-7395-416B-91F6-246D5DAA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0386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B9A99-B05F-4C28-8F5A-0663C20E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72A"/>
                </a:solidFill>
              </a:defRPr>
            </a:pPr>
            <a:r>
              <a:rPr sz="1350" b="0">
                <a:solidFill>
                  <a:srgbClr val="15172A"/>
                </a:solidFill>
              </a:rPr>
              <a:t>Result: a verified user is ready to enter the portal with the appropriate operating permissions.</a:t>
            </a:r>
          </a:p>
        </p:txBody>
      </p:sp>
    </p:spTree>
    <p:extLst>
      <p:ext uri="{BB962C8B-B14F-4D97-AF65-F5344CB8AC3E}">
        <p14:creationId xmlns:p14="http://schemas.microsoft.com/office/powerpoint/2010/main" val="1789706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71926-8081-4A72-8A38-9425E796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D1C24"/>
                </a:solidFill>
              </a:defRPr>
            </a:pPr>
            <a:r>
              <a:rPr sz="900" b="1">
                <a:solidFill>
                  <a:srgbClr val="ED1C24"/>
                </a:solidFill>
              </a:rPr>
              <a:t>CORPORATE PMO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5DA92-3706-48D3-AB70-9E7B9A8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AFTER LOGIN ·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A8B2E-823A-44A8-8AB4-AD155EF5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6"/>
          </a:solidFill>
          <a:ln xmlns:a="http://schemas.openxmlformats.org/drawingml/2006/main" w="0">
            <a:solidFill>
              <a:srgbClr val="D9D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016F0-9225-41EF-89A5-F862D866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EE33E-1B1F-4ED0-9E5F-CD4B8864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72A"/>
                </a:solidFill>
              </a:defRPr>
            </a:pPr>
            <a:r>
              <a:rPr sz="2700" b="1">
                <a:solidFill>
                  <a:srgbClr val="15172A"/>
                </a:solidFill>
              </a:rPr>
              <a:t>The dashboard puts portfolio health and next actions in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B1D9E-4C4C-4A3C-8C70-5D258F5D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74"/>
                </a:solidFill>
              </a:defRPr>
            </a:pPr>
            <a:r>
              <a:rPr sz="1425" b="0">
                <a:solidFill>
                  <a:srgbClr val="596174"/>
                </a:solidFill>
              </a:rPr>
              <a:t>On login, corporate users land on a consolidated command centre for holdings, transactions, fund performance and analytics.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bf3d414914e08"/>
          <a:stretch xmlns:a="http://schemas.openxmlformats.org/drawingml/2006/main"/>
        </p:blipFill>
        <p:spPr>
          <a:xfrm xmlns:a="http://schemas.openxmlformats.org/drawingml/2006/main">
            <a:off x="1308735" y="2324100"/>
            <a:ext cx="5554980" cy="385762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24D17-8B30-4868-A243-40D11519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3D1C9-2B49-4A1B-BAB7-6AA9014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2A"/>
                </a:solidFill>
              </a:defRPr>
            </a:pPr>
            <a:r>
              <a:rPr sz="1650" b="1">
                <a:solidFill>
                  <a:srgbClr val="15172A"/>
                </a:solidFill>
              </a:rPr>
              <a:t>Portfolio at a glance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68260-242E-4A01-BA0B-A681E4EB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Holdings, investment cost and returns are surfaced prominently.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6BCD0-AE12-4BFE-8CA1-37A2680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E31C7-A1F5-4559-9334-45B9863C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2A"/>
                </a:solidFill>
              </a:defRPr>
            </a:pPr>
            <a:r>
              <a:rPr sz="1650" b="1">
                <a:solidFill>
                  <a:srgbClr val="15172A"/>
                </a:solidFill>
              </a:rPr>
              <a:t>Work that needs attention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99D4E-A417-4E58-AA28-2CCE3605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Pending approvals are flagged with a direct route to 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4823B-1A0F-49D9-9B19-22C9EF5A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0EEFA-5FB8-418E-A995-D0E69E11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14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72A"/>
                </a:solidFill>
              </a:defRPr>
            </a:pPr>
            <a:r>
              <a:rPr sz="1650" b="1">
                <a:solidFill>
                  <a:srgbClr val="15172A"/>
                </a:solidFill>
              </a:rPr>
              <a:t>Investment intelligence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E482B-094E-477F-9B5F-FBA5239B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387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74"/>
                </a:solidFill>
              </a:defRPr>
            </a:pPr>
            <a:r>
              <a:rPr sz="1275" b="0">
                <a:solidFill>
                  <a:srgbClr val="596174"/>
                </a:solidFill>
              </a:rPr>
              <a:t>Recent transactions, price performance and fund analytics sit together.</a:t>
            </a:r>
          </a:p>
        </p:txBody>
      </p:sp>
    </p:spTree>
    <p:extLst>
      <p:ext uri="{BB962C8B-B14F-4D97-AF65-F5344CB8AC3E}">
        <p14:creationId xmlns:p14="http://schemas.microsoft.com/office/powerpoint/2010/main" val="2068417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B8D7F-EC26-4FF4-B0B3-155D04FC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D1C24"/>
                </a:solidFill>
              </a:defRPr>
            </a:pPr>
            <a:r>
              <a:rPr sz="900" b="1">
                <a:solidFill>
                  <a:srgbClr val="ED1C24"/>
                </a:solidFill>
              </a:rPr>
              <a:t>CORPORATE PMO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F60EB-DED2-4E1E-823A-A59DF7A2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AFTER LOGIN · WHAT USERS CAN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FF9F8-5381-491C-B4BA-E6D8280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6"/>
          </a:solidFill>
          <a:ln xmlns:a="http://schemas.openxmlformats.org/drawingml/2006/main" w="0">
            <a:solidFill>
              <a:srgbClr val="D9DC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9A91A-9117-48E8-8601-713DCE93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6174"/>
                </a:solidFill>
              </a:defRPr>
            </a:pPr>
            <a:r>
              <a:rPr sz="900" b="1">
                <a:solidFill>
                  <a:srgbClr val="59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853DB-7B08-48A0-B698-F338577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72A"/>
                </a:solidFill>
              </a:defRPr>
            </a:pPr>
            <a:r>
              <a:rPr sz="2850" b="1">
                <a:solidFill>
                  <a:srgbClr val="15172A"/>
                </a:solidFill>
              </a:rPr>
              <a:t>A single portal supports visibility, execution and 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08DF4-EC94-436E-A013-01AB1910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74"/>
                </a:solidFill>
              </a:defRPr>
            </a:pPr>
            <a:r>
              <a:rPr sz="1500" b="0">
                <a:solidFill>
                  <a:srgbClr val="596174"/>
                </a:solidFill>
              </a:rPr>
              <a:t>The logged-in navigation makes routine servicing and control tasks easy to find without losing the high-level portfolio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1079A-339F-4A9D-8DF7-20940EBD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2A"/>
                </a:solidFill>
              </a:defRPr>
            </a:pPr>
            <a:r>
              <a:rPr sz="1800" b="1">
                <a:solidFill>
                  <a:srgbClr val="15172A"/>
                </a:solidFill>
              </a:rPr>
              <a:t>Review accounts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A42FD-D14E-4AD9-A2FA-0106A5A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9AB6C-7B27-4ABC-8159-80E59AD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View holdings, account details, fund performance and analytics.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447B9-9D86-4786-920B-A5E2B049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2A"/>
                </a:solidFill>
              </a:defRPr>
            </a:pPr>
            <a:r>
              <a:rPr sz="1800" b="1">
                <a:solidFill>
                  <a:srgbClr val="15172A"/>
                </a:solidFill>
              </a:rPr>
              <a:t>Make investments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CF6A2-8555-44B1-9277-A9268546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670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6C81A-3218-4243-B029-7D15EB6E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575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Top up and submit investment or redemption requests.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CD1D7-EFF1-4D1E-A8E2-61865AD1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2A"/>
                </a:solidFill>
              </a:defRPr>
            </a:pPr>
            <a:r>
              <a:rPr sz="1800" b="1">
                <a:solidFill>
                  <a:srgbClr val="15172A"/>
                </a:solidFill>
              </a:rPr>
              <a:t>Authorise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158B4-3604-496A-BBB5-E088557D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A7BEE-FEC7-43B9-98DF-A5869207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Review and approve pending transactions using role-based controls.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2950F-C142-49E5-9885-FF9FE2C0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72A"/>
                </a:solidFill>
              </a:defRPr>
            </a:pPr>
            <a:r>
              <a:rPr sz="1800" b="1">
                <a:solidFill>
                  <a:srgbClr val="15172A"/>
                </a:solidFill>
              </a:rPr>
              <a:t>Stay informed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BD5A7-B0D7-4686-8AD7-BE735578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C94D8-98DA-4FA1-894C-3873AD94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77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74"/>
                </a:solidFill>
              </a:defRPr>
            </a:pPr>
            <a:r>
              <a:rPr sz="1350" b="0">
                <a:solidFill>
                  <a:srgbClr val="596174"/>
                </a:solidFill>
              </a:rPr>
              <a:t>Search transaction history, download statements and view online activities.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B6C11-F10D-4F77-AE67-0768A95C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247B"/>
                </a:solidFill>
              </a:defRPr>
            </a:pPr>
            <a:r>
              <a:rPr sz="1350" b="1">
                <a:solidFill>
                  <a:srgbClr val="26247B"/>
                </a:solidFill>
              </a:rPr>
              <a:t>Corporate PMO combines a polished onboarding experience with operational tools that help users act confidently after login.</a:t>
            </a:r>
          </a:p>
        </p:txBody>
      </p:sp>
    </p:spTree>
    <p:extLst>
      <p:ext uri="{BB962C8B-B14F-4D97-AF65-F5344CB8AC3E}">
        <p14:creationId xmlns:p14="http://schemas.microsoft.com/office/powerpoint/2010/main" val="1208062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2026-07-30T02:15:14.8060000Z</dcterms:created>
  <dcterms:modified xsi:type="dcterms:W3CDTF">2026-07-30T02:15:14.8060000Z</dcterms:modified>
</coreProperties>
</file>